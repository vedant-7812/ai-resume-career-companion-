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Relationship Id="rId17" Type="http://schemas.openxmlformats.org/officeDocument/2006/relationships/image" Target="../media/image62.png"/><Relationship Id="rId18" Type="http://schemas.openxmlformats.org/officeDocument/2006/relationships/image" Target="../media/image63.png"/><Relationship Id="rId19" Type="http://schemas.openxmlformats.org/officeDocument/2006/relationships/image" Target="../media/image6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062" y="4785270"/>
            <a:ext cx="1238250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12" y="4785270"/>
            <a:ext cx="1238250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162" y="4785270"/>
            <a:ext cx="1495425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887" y="4785270"/>
            <a:ext cx="1562100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287" y="4785270"/>
            <a:ext cx="1390650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0125" y="1739354"/>
            <a:ext cx="25717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50644" y="2177504"/>
            <a:ext cx="5690711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AI Resume &amp; Career</a:t>
            </a:r>
            <a:r>
              <a:t>
</a:t>
            </a:r>
            <a:r>
              <a:rPr b="1" sz="4800" i="0" u="none">
                <a:solidFill>
                  <a:srgbClr val="F8FAFC"/>
                </a:solidFill>
                <a:latin typeface="Space Grotesk"/>
              </a:rPr>
              <a:t> Companion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6012" y="3708945"/>
            <a:ext cx="74199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An End-to-End GenAI System for Intelligent Resume Parsing, Job Matching,</a:t>
            </a:r>
            <a:r>
              <a:t>
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Personalized Career Guidance, and Recruiter Candidate Ranking.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2050" y="1825079"/>
            <a:ext cx="16192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6987" y="4890045"/>
            <a:ext cx="1524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9537" y="4890045"/>
            <a:ext cx="10477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2087" y="4890045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1812" y="4890045"/>
            <a:ext cx="1714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8212" y="4890045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04950"/>
            <a:ext cx="208404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465" y="1504950"/>
            <a:ext cx="2084040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905" y="1504950"/>
            <a:ext cx="2084040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345" y="1504950"/>
            <a:ext cx="208404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6785" y="1504950"/>
            <a:ext cx="2084189" cy="457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667375"/>
            <a:ext cx="168399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7490" y="5667375"/>
            <a:ext cx="168399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3930" y="5667375"/>
            <a:ext cx="168399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0370" y="5667375"/>
            <a:ext cx="168399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6810" y="5667375"/>
            <a:ext cx="1684139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50" y="1704975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050" y="2266950"/>
            <a:ext cx="176818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F8FAFC"/>
                </a:solidFill>
                <a:latin typeface="Space Grotesk SemiBold"/>
              </a:rPr>
              <a:t>Frontend /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2514600"/>
            <a:ext cx="16839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Inter SemiBold"/>
              </a:rPr>
              <a:t>Member 1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17490" y="1704975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17490" y="2266950"/>
            <a:ext cx="176818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F8FAFC"/>
                </a:solidFill>
                <a:latin typeface="Space Grotesk SemiBold"/>
              </a:rPr>
              <a:t>Resume 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490" y="2514600"/>
            <a:ext cx="16839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Inter SemiBold"/>
              </a:rPr>
              <a:t>Member 2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3930" y="1704975"/>
            <a:ext cx="41910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53930" y="2266950"/>
            <a:ext cx="176818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F8FAFC"/>
                </a:solidFill>
                <a:latin typeface="Space Grotesk SemiBold"/>
              </a:rPr>
              <a:t>Job &amp; Skill Matcher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3930" y="2514600"/>
            <a:ext cx="16839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Inter SemiBold"/>
              </a:rPr>
              <a:t>Member 3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0370" y="1704975"/>
            <a:ext cx="419100" cy="419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90370" y="2266950"/>
            <a:ext cx="176818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F8FAFC"/>
                </a:solidFill>
                <a:latin typeface="Space Grotesk SemiBold"/>
              </a:rPr>
              <a:t>Career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0370" y="2514600"/>
            <a:ext cx="16839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Inter SemiBold"/>
              </a:rPr>
              <a:t>Member 4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26810" y="1704975"/>
            <a:ext cx="419100" cy="419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26810" y="2266950"/>
            <a:ext cx="1768346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F8FAFC"/>
                </a:solidFill>
                <a:latin typeface="Space Grotesk SemiBold"/>
              </a:rPr>
              <a:t>Recruiter &amp;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6810" y="2514600"/>
            <a:ext cx="168413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Inter SemiBold"/>
              </a:rPr>
              <a:t>Member 5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300" y="1800225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4400" y="2771775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Streamlit App Framework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033712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Sidebar Navigation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295650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Results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557587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Score Visualizations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41315" y="1800225"/>
            <a:ext cx="17145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150840" y="2771775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PDF / DOCX Parsing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0840" y="3033712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Entity Extraction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0840" y="3295650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Completeness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0840" y="3557587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Score Calculation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49180" y="1800225"/>
            <a:ext cx="2286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87280" y="2771775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JD Keyword Match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7280" y="3033712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Skill Gap Matrix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87280" y="3295650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Match Percentage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87280" y="3557587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Skill Recommendations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57045" y="1800225"/>
            <a:ext cx="28575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623720" y="2771775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Interactive AI Q&amp;A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3720" y="3033712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Learning Roadmaps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3720" y="3295650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Project Suggestions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3720" y="3557587"/>
            <a:ext cx="15506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Resume Polishing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36348" y="1800225"/>
            <a:ext cx="200025" cy="2286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860160" y="2771775"/>
            <a:ext cx="155078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Batch Resume Scoring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0160" y="3033712"/>
            <a:ext cx="155078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Candidate Leaderboard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60160" y="3295650"/>
            <a:ext cx="155078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DB Architecture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60160" y="3557587"/>
            <a:ext cx="155078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System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050" y="2771775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050" y="3033712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050" y="3295650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050" y="3557587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490" y="2771775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490" y="3033712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17490" y="3295650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490" y="3557587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3930" y="2771775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3930" y="3033712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3930" y="3295650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53930" y="3557587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0370" y="2771775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0370" y="3033712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0370" y="3295650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0370" y="3557587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26810" y="2771775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26810" y="3033712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26810" y="3295650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26810" y="3557587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Team Division &amp; System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9675"/>
            <a:ext cx="5324475" cy="1009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71725"/>
            <a:ext cx="5324475" cy="1009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3676650"/>
            <a:ext cx="1260425" cy="1123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2975" y="3676650"/>
            <a:ext cx="1260425" cy="1123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7700" y="3676650"/>
            <a:ext cx="1260425" cy="1123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485775"/>
            <a:ext cx="5590698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Core Parsing &amp; Skill Matching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050" y="1390650"/>
            <a:ext cx="5170646" cy="19050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Inter"/>
              </a:rPr>
              <a:t>Structured Entity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1638300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Converts PDF/DOCX into clean JSON containing Name, Education, Skills, Projects, and Certifications with instant completeness scoring.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2552700"/>
            <a:ext cx="5170646" cy="19050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Inter"/>
              </a:rPr>
              <a:t>Job Description vs Resume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2800350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Calculates overall match percentage and maps matching skills against missing critical keywords for targeted applications.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1400175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2562225"/>
            <a:ext cx="161925" cy="161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2075" y="3800475"/>
            <a:ext cx="10127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Space Grotesk"/>
              </a:rPr>
              <a:t>82/100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075" y="4095750"/>
            <a:ext cx="1012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RESUME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6800" y="3800475"/>
            <a:ext cx="10127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Space Grotesk"/>
              </a:rPr>
              <a:t>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6800" y="4095750"/>
            <a:ext cx="1012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JD MATCH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1525" y="3800475"/>
            <a:ext cx="1012775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Space Grotesk"/>
              </a:rPr>
              <a:t>4 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1525" y="4391025"/>
            <a:ext cx="10127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SKILL GAP IDENTIFIED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1009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762250"/>
            <a:ext cx="5324475" cy="1009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24300"/>
            <a:ext cx="5324475" cy="1009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600200"/>
            <a:ext cx="5324475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1781175"/>
            <a:ext cx="5170646" cy="19050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Inter"/>
              </a:rPr>
              <a:t>Conversational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02882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Job seekers can ask questions like </a:t>
            </a:r>
            <a:r>
              <a:rPr b="0" sz="1050" i="1" u="none">
                <a:solidFill>
                  <a:srgbClr val="94A3B8"/>
                </a:solidFill>
                <a:latin typeface="Inter"/>
              </a:rPr>
              <a:t>"What projects should I build?"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or </a:t>
            </a:r>
            <a:r>
              <a:rPr b="0" sz="1050" i="1" u="none">
                <a:solidFill>
                  <a:srgbClr val="94A3B8"/>
                </a:solidFill>
                <a:latin typeface="Inter"/>
              </a:rPr>
              <a:t>"How do I become an ML Engineer?"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and receive instant advice.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943225"/>
            <a:ext cx="5170646" cy="19050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Inter"/>
              </a:rPr>
              <a:t>Dynamic Learning Roadmaps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19087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Generates step-by-step technical roadmaps tailored to target roles (e.g., PyTorch → Docker → AWS → MLOps).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4105275"/>
            <a:ext cx="5170646" cy="1905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Inter"/>
              </a:rPr>
              <a:t>Resume Actionability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435292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Suggests quantifiable bullet points, impactful keywords, and tailored project ideas to bridge skill gaps.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1609725"/>
            <a:ext cx="5305425" cy="4362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1790700"/>
            <a:ext cx="2000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2952750"/>
            <a:ext cx="1619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4114800"/>
            <a:ext cx="180975" cy="161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AI Career Assistant &amp;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31181"/>
            <a:ext cx="5324475" cy="1009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31181"/>
            <a:ext cx="5324475" cy="1028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164" y="3798093"/>
            <a:ext cx="1143000" cy="95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164" y="4341018"/>
            <a:ext cx="1143000" cy="95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164" y="4883943"/>
            <a:ext cx="1143000" cy="95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164" y="5426868"/>
            <a:ext cx="1143000" cy="95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164" y="3798093"/>
            <a:ext cx="1051470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164" y="4341018"/>
            <a:ext cx="99432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2164" y="4883943"/>
            <a:ext cx="925710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2164" y="5426868"/>
            <a:ext cx="845790" cy="9525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81025" y="3098006"/>
          <a:ext cx="11029948" cy="265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28862"/>
                <a:gridCol w="1831776"/>
                <a:gridCol w="2093416"/>
                <a:gridCol w="2695277"/>
                <a:gridCol w="2080617"/>
              </a:tblGrid>
              <a:tr h="53054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Candidate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Overall Match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Match Progress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Key Missing Skills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 Rahul Sharma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92%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 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Kubernetes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ADE80"/>
                          </a:solidFill>
                          <a:latin typeface="Inter"/>
                        </a:rPr>
                        <a:t> Top Match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2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 Priya Patel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87%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AWS MLOps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8BDF8"/>
                          </a:solidFill>
                          <a:latin typeface="Inter"/>
                        </a:rPr>
                        <a:t> Shortlisted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3054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3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 Amit Kumar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81%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Docker, System Design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 Under Review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30544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4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 Neha Singh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BD5E1"/>
                          </a:solidFill>
                          <a:latin typeface="Inter"/>
                        </a:rPr>
                        <a:t>74%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
</a:t>
                      </a:r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
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BD5E1"/>
                          </a:solidFill>
                          <a:latin typeface="Inter"/>
                        </a:rPr>
                        <a:t>PyTorch, AWS, Docker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 Under Review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81050" y="2012156"/>
            <a:ext cx="5170646" cy="1905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Inter"/>
              </a:rPr>
              <a:t>Batch Multi-Resume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2259806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Recruiters upload a single Job Description and multiple candidate resumes to calculate instant fit scores.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2012156"/>
            <a:ext cx="5170646" cy="190500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8FAFC"/>
                </a:solidFill>
                <a:latin typeface="Inter"/>
              </a:rPr>
              <a:t>Unified Module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2259806"/>
            <a:ext cx="49244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Member 5 connects 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resume_analyzer.py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, 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job_matcher.py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, and 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career_assistant.py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into the Streamlit UI core.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2021681"/>
            <a:ext cx="18097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2021681"/>
            <a:ext cx="180975" cy="1619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81025" y="4112418"/>
            <a:ext cx="2328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09887" y="4112418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41664" y="4112418"/>
            <a:ext cx="20934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35080" y="4112418"/>
            <a:ext cx="26952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30357" y="4112418"/>
            <a:ext cx="20806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1025" y="4655343"/>
            <a:ext cx="2328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9887" y="4655343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41664" y="4655343"/>
            <a:ext cx="20934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35080" y="4655343"/>
            <a:ext cx="26952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30357" y="4655343"/>
            <a:ext cx="20806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1025" y="5198268"/>
            <a:ext cx="2328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09887" y="5198268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41664" y="5198268"/>
            <a:ext cx="20934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35080" y="5198268"/>
            <a:ext cx="26952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0357" y="5198268"/>
            <a:ext cx="20806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1025" y="5741193"/>
            <a:ext cx="23288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09887" y="5741193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41664" y="5741193"/>
            <a:ext cx="20934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35080" y="5741193"/>
            <a:ext cx="269527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30357" y="5741193"/>
            <a:ext cx="208061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3712368"/>
            <a:ext cx="266700" cy="2667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4255293"/>
            <a:ext cx="266700" cy="2667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4798218"/>
            <a:ext cx="266700" cy="2667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5341143"/>
            <a:ext cx="266700" cy="2667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20857" y="3767137"/>
            <a:ext cx="142875" cy="1428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20857" y="4852987"/>
            <a:ext cx="142875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20857" y="4310062"/>
            <a:ext cx="142875" cy="1428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20857" y="5395912"/>
            <a:ext cx="142875" cy="1428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20857" y="3767137"/>
            <a:ext cx="142875" cy="1428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20857" y="4310062"/>
            <a:ext cx="142875" cy="1428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20857" y="4852987"/>
            <a:ext cx="142875" cy="1428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20857" y="5395912"/>
            <a:ext cx="142875" cy="14287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Recruiter Hub &amp; Candidate 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2487" y="3024187"/>
            <a:ext cx="104870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2487" y="3786187"/>
            <a:ext cx="104870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2487" y="3786187"/>
            <a:ext cx="104870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" y="316706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47862" y="3174206"/>
            <a:ext cx="93916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https://cdn.ncbi.nlm.nih.gov/pmc/blobs/6276/12920534/b5f1c8c1747d/frai-09-1718244-g001.jpg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862" y="3407568"/>
            <a:ext cx="9391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pmc.ncbi.nlm.nih.gov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87" y="393858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47862" y="3945731"/>
            <a:ext cx="93916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https://scaler-blog-prod-wp-content.s3.ap-south-1.amazonaws.com/wp-content/uploads/2025/11/28152936/ai-engineer-roadmap-surprise-1785232675.webp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7862" y="4179093"/>
            <a:ext cx="93916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www.scaler.com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